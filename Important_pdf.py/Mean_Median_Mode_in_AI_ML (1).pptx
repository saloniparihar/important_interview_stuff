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500" b="0" i="0" u="none" strike="noStrike">
                <a:solidFill>
                  <a:srgbClr val="000000"/>
                </a:solidFill>
                <a:latin typeface="Arial"/>
              </a:rPr>
              <a:t>Effect of One Outlier on Each Measure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Salary (₹ thousands)</c:v>
                </c:pt>
              </c:strCache>
            </c:strRef>
          </c:tx>
          <c:spPr>
            <a:solidFill>
              <a:srgbClr val="B547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Mean</c:v>
                  </c:pt>
                  <c:pt idx="1">
                    <c:v>Median</c:v>
                  </c:pt>
                  <c:pt idx="2">
                    <c:v>Mode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122.2</c:v>
                </c:pt>
                <c:pt idx="1">
                  <c:v>29</c:v>
                </c:pt>
                <c:pt idx="2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430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303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914400"/>
            <a:ext cx="914400" cy="914400"/>
          </a:xfrm>
          <a:prstGeom prst="ellipse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23560" y="914400"/>
            <a:ext cx="914400" cy="914400"/>
          </a:xfrm>
          <a:prstGeom prst="ellipse">
            <a:avLst/>
          </a:prstGeom>
          <a:solidFill>
            <a:srgbClr val="B5471B"/>
          </a:solidFill>
          <a:ln/>
        </p:spPr>
      </p:sp>
      <p:sp>
        <p:nvSpPr>
          <p:cNvPr id="5" name="Text 3"/>
          <p:cNvSpPr/>
          <p:nvPr/>
        </p:nvSpPr>
        <p:spPr>
          <a:xfrm>
            <a:off x="562356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949440" y="914400"/>
            <a:ext cx="914400" cy="914400"/>
          </a:xfrm>
          <a:prstGeom prst="ellipse">
            <a:avLst/>
          </a:prstGeom>
          <a:solidFill>
            <a:srgbClr val="4B3F72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Mean, Median &amp; Mode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7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Artificial Intelligence &amp; Machine Learning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Foundations Every AI/ML Engineer Must Know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2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 |  Statistics for AI/ML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Statistics is the Foundation of AI &amp; ML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models learn patterns hidden inside data — statistics is how we understand that data before feeding it to a model</a:t>
            </a:r>
            <a:endParaRPr lang="en-US" sz="170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and Mode compress thousands of data points into a single meaningful number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26440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an ML pipeline uses them: cleaning data, engineering features, and evaluating model performance</a:t>
            </a:r>
            <a:endParaRPr lang="en-US" sz="170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building blocks for deeper concepts like probability, distributions, and neural network training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Data-to-Prediction Journey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47731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 →  Statistics (Mean / Median / Mode)  →  Clean Data  →  ML Model  →  Prediction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40080" cy="640080"/>
          </a:xfrm>
          <a:prstGeom prst="ellipse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(Average)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the sum of all values in a dataset divided by the total number of values. It is the most commonly used measure of central tendency.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EF2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986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 =  ( Σ x ) / 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Numerical Example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4370832"/>
            <a:ext cx="10881360" cy="1691640"/>
          </a:xfrm>
          <a:prstGeom prst="roundRect">
            <a:avLst>
              <a:gd name="adj" fmla="val 3784"/>
            </a:avLst>
          </a:prstGeom>
          <a:solidFill>
            <a:srgbClr val="EE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262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marks: 40, 50, 60, 70, 80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marks = 40 + 50 + 60 + 70 + 80 = 300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students (n) = 5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300 / 5 = 60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40080" cy="640080"/>
          </a:xfrm>
          <a:prstGeom prst="ellipse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(Average)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splitting a pizza bill equally among 5 friends — everyone pays the same average share, no matter what each person ordered.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in AI/ML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17296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summarize numeric features, initialize model parameters, and compute loss functions such as Mean Squared Error (MSE).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Data Preprocessing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459028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missing numeric values (mean imputation) and is used while normalizing / scaling features before training a model.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40080" cy="640080"/>
          </a:xfrm>
          <a:prstGeom prst="ellipse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(Average)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AI/ML Use Case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average house prices from area &amp; location; computing average customer spend for recommendation systems.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035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fast to calculate; uses every data point in the dataset.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4178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sensitive to outliers — one very high salary can pull the whole average up.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We Use It?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5321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data is roughly symmetric and has no extreme outliers.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40080" cy="640080"/>
          </a:xfrm>
          <a:prstGeom prst="ellipse">
            <a:avLst/>
          </a:prstGeom>
          <a:solidFill>
            <a:srgbClr val="B547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(Middle Value)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4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is the middle value of a dataset when arranged in ascending order. It divides the data into two equal halves.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4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EF2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986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 n: middle term      Even n: average of the two middle terms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4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Numerical Example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4370832"/>
            <a:ext cx="10881360" cy="1691640"/>
          </a:xfrm>
          <a:prstGeom prst="roundRect">
            <a:avLst>
              <a:gd name="adj" fmla="val 3784"/>
            </a:avLst>
          </a:prstGeom>
          <a:solidFill>
            <a:srgbClr val="EE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262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Salaries: 20k, 22k, 25k, 28k, 100k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already sorted in ascending order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value (3rd of 5 terms) = 25k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₹25,000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40080" cy="640080"/>
          </a:xfrm>
          <a:prstGeom prst="ellipse">
            <a:avLst/>
          </a:prstGeom>
          <a:solidFill>
            <a:srgbClr val="B547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(Middle Value)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4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people standing in a line ordered by height — the person exactly in the middle represents the median height.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4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in AI/ML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17296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robust measure of central tendency for skewed data; used in robust regression and outlier-resistant models.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4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Data Preprocessing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459028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median imputation of missing values when the dataset contains outliers.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40080" cy="640080"/>
          </a:xfrm>
          <a:prstGeom prst="ellipse">
            <a:avLst/>
          </a:prstGeom>
          <a:solidFill>
            <a:srgbClr val="B547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(Middle Value)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4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AI/ML Use Case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median house price in real-estate prediction models; median income analysis in economic ML models.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4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035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affected by outliers; works well for skewed distributions.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4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4178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the exact values of other data points; less useful in further algebraic calculations.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4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We Use It?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5321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data has outliers or is skewed (e.g. income, house prices).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40080" cy="640080"/>
          </a:xfrm>
          <a:prstGeom prst="ellipse">
            <a:avLst/>
          </a:prstGeom>
          <a:solidFill>
            <a:srgbClr val="4B3F7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(Most Frequent Value)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 is the value that occurs most frequently in a dataset. A dataset can have one mode, more than one mode, or no mode at all.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EF2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986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 =  value with the highest frequency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Numerical Example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4370832"/>
            <a:ext cx="10881360" cy="1691640"/>
          </a:xfrm>
          <a:prstGeom prst="roundRect">
            <a:avLst>
              <a:gd name="adj" fmla="val 3784"/>
            </a:avLst>
          </a:prstGeom>
          <a:solidFill>
            <a:srgbClr val="EE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262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 sizes sold: 7, 8, 8, 9, 8, 10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size 8 = 3 (highest)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sizes appear only once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= 8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40080" cy="640080"/>
          </a:xfrm>
          <a:prstGeom prst="ellipse">
            <a:avLst/>
          </a:prstGeom>
          <a:solidFill>
            <a:srgbClr val="4B3F7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(Most Frequent Value)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most-ordered pizza topping at a restaurant — whichever topping is chosen most often is the 'mode' topping.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in AI/ML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17296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categorical data and to identify the most common class label in classification problems.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Data Preprocessing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459028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mode imputation of missing categorical values (e.g. filling missing 'City' or 'Gender' fields).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40080" cy="640080"/>
          </a:xfrm>
          <a:prstGeom prst="ellipse">
            <a:avLst/>
          </a:prstGeom>
          <a:solidFill>
            <a:srgbClr val="4B3F7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(Most Frequent Value)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AI/ML Use Case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most purchased product for recommendation systems; most common customer rating on a review platform.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035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categorical (non-numeric) data; easy for beginners to understand.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4178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exist, or a dataset may have multiple modes; does not use all data values.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We Use It?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5321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categorical or discrete data, and to find the most popular item or class.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Table: Mean vs Median vs Mode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420624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  <a:gridCol w="2194560"/>
                <a:gridCol w="1371600"/>
                <a:gridCol w="1737360"/>
                <a:gridCol w="1920240"/>
              </a:tblGrid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Best Use Case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Outlier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Sensitivity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AI/ML Application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Average of all values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Symmetric data,</a:t>
                      </a:r>
                      <a:endParaRPr lang="en-US" sz="1400" dirty="0"/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no outliers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Numeric</a:t>
                      </a:r>
                      <a:endParaRPr lang="en-US" sz="1400" dirty="0"/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(continuous)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Loss functions (MSE),</a:t>
                      </a:r>
                      <a:endParaRPr lang="en-US" sz="1400" dirty="0"/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feature scaling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7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Middle value when sorted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Skewed data,</a:t>
                      </a:r>
                      <a:endParaRPr lang="en-US" sz="1400" dirty="0"/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has outliers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Numeric</a:t>
                      </a:r>
                      <a:endParaRPr lang="en-US" sz="1400" dirty="0"/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(ordinal)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Robust imputation,</a:t>
                      </a:r>
                      <a:endParaRPr lang="en-US" sz="1400" dirty="0"/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robust regression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Most frequent value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Categorical /</a:t>
                      </a:r>
                      <a:endParaRPr lang="en-US" sz="1400" dirty="0"/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discrete data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Categorical</a:t>
                      </a:r>
                      <a:endParaRPr lang="en-US" sz="1400" dirty="0"/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/ Discrete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Classification labels,</a:t>
                      </a:r>
                      <a:endParaRPr lang="en-US" sz="1400" dirty="0"/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3D"/>
                          </a:solidFill>
                        </a:rPr>
                        <a:t>categorical imputation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Outliers Affect Mean, Median &amp; Mode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salaries (in ₹ thousands) of 5 employees: 25, 27, 29, 30, 500</a:t>
            </a:r>
            <a:endParaRPr lang="en-US" sz="170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value (500k) is an outlier — for example, the CEO's salary</a:t>
            </a:r>
            <a:endParaRPr lang="en-US" sz="1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42316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75120" y="2807208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jumps to ₹122.2k — badly distorted by the single outlier</a:t>
            </a:r>
            <a:endParaRPr lang="en-US" sz="170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stays at ₹29k — barely affected, still represents the typical salary</a:t>
            </a:r>
            <a:endParaRPr lang="en-US" sz="170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(27) reflects the most common raw value, unrelated to the outlier</a:t>
            </a:r>
            <a:endParaRPr lang="en-US" sz="170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ML: prefer median-based statistics when data may contain outliers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These Measures Improve ML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Feature Scaling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Mean-based normalization (standardization) helps models converge faster during training.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4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Data Cleaning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715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for missing values keeps outlier-heavy data clean and reliable.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Loss Functions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6758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relates to the mean; MAE relates to the median — choosing the right one changes model behavior.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Exploratory Analysis (EDA)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46360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 measures reveal patterns and anomalies before model building even starts.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4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Categorical Encoding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55961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Mode-based imputation and encoding improve handling of categorical features like city or product type.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Memory Tricks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66928" cy="566928"/>
          </a:xfrm>
          <a:prstGeom prst="ellipse">
            <a:avLst/>
          </a:prstGeom>
          <a:solidFill>
            <a:srgbClr val="0F6E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344168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— “Sum &amp; Share”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17320" y="1664208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values, divide by count. Sensitive to outliers.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566928" cy="566928"/>
          </a:xfrm>
          <a:prstGeom prst="ellipse">
            <a:avLst/>
          </a:prstGeom>
          <a:solidFill>
            <a:srgbClr val="B5471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185416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— “Sort &amp; Split”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17320" y="2505456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middle value. Stays stable with outliers.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566928" cy="566928"/>
          </a:xfrm>
          <a:prstGeom prst="ellipse">
            <a:avLst/>
          </a:prstGeom>
          <a:solidFill>
            <a:srgbClr val="4B3F7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026664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— “Most Popular”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17320" y="3346704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 value. Best for categories.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032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Decision Rule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4398264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numeric data, no outliers → use Mean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data or outliers present → use Median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or discrete data → use Mode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Mode in AI/ML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2026-07-28T06:32:44Z</dcterms:created>
  <dcterms:modified xsi:type="dcterms:W3CDTF">2026-07-28T06:32:44Z</dcterms:modified>
</cp:coreProperties>
</file>